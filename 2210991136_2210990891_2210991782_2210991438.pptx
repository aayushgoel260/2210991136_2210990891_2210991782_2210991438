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3: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3: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4: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5: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6: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6: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7: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7: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8: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8: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10: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0: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9: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9: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1: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1: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2: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12: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3: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3: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4: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14: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1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7"/>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9"/>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9"/>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0"/>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0"/>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0"/>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1"/>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1"/>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2"/>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2"/>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2"/>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3"/>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3"/>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3"/>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3"/>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3"/>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9.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1"/>
          <p:cNvGrpSpPr/>
          <p:nvPr/>
        </p:nvGrpSpPr>
        <p:grpSpPr>
          <a:xfrm>
            <a:off x="6146640" y="0"/>
            <a:ext cx="2997000" cy="875880"/>
            <a:chOff x="6146640" y="0"/>
            <a:chExt cx="2997000" cy="875880"/>
          </a:xfrm>
        </p:grpSpPr>
        <p:sp>
          <p:nvSpPr>
            <p:cNvPr id="15" name="Google Shape;15;p1"/>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1"/>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1"/>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1"/>
          <p:cNvGrpSpPr/>
          <p:nvPr/>
        </p:nvGrpSpPr>
        <p:grpSpPr>
          <a:xfrm>
            <a:off x="6146640" y="0"/>
            <a:ext cx="2997000" cy="875880"/>
            <a:chOff x="6146640" y="0"/>
            <a:chExt cx="2997000" cy="875880"/>
          </a:xfrm>
        </p:grpSpPr>
        <p:sp>
          <p:nvSpPr>
            <p:cNvPr id="21" name="Google Shape;21;p1"/>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1"/>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1"/>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1"/>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1"/>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1"/>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 name="Google Shape;28;p1"/>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9" name="Google Shape;29;p1"/>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nvSpPr>
        <p:spPr>
          <a:xfrm>
            <a:off x="0" y="840631"/>
            <a:ext cx="9144000" cy="571748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Project Presentation of Co-Op Project at Industry (Module-2) </a:t>
            </a:r>
            <a:endParaRPr b="0"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4800"/>
              <a:buFont typeface="Arial"/>
              <a:buNone/>
            </a:pPr>
            <a:r>
              <a:rPr lang="en-US" sz="4800">
                <a:solidFill>
                  <a:schemeClr val="dk1"/>
                </a:solidFill>
                <a:latin typeface="Times New Roman"/>
                <a:ea typeface="Times New Roman"/>
                <a:cs typeface="Times New Roman"/>
                <a:sym typeface="Times New Roman"/>
              </a:rPr>
              <a:t>GameVerse</a:t>
            </a:r>
            <a:endParaRPr b="0" i="1"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Aayush Goel</a:t>
            </a:r>
            <a:r>
              <a:rPr b="0" i="0" lang="en-US" sz="2000" u="none" cap="none" strike="noStrike">
                <a:solidFill>
                  <a:srgbClr val="000000"/>
                </a:solidFill>
                <a:latin typeface="Times New Roman"/>
                <a:ea typeface="Times New Roman"/>
                <a:cs typeface="Times New Roman"/>
                <a:sym typeface="Times New Roman"/>
              </a:rPr>
              <a:t>, </a:t>
            </a:r>
            <a:r>
              <a:rPr lang="en-US" sz="2000">
                <a:latin typeface="Times New Roman"/>
                <a:ea typeface="Times New Roman"/>
                <a:cs typeface="Times New Roman"/>
                <a:sym typeface="Times New Roman"/>
              </a:rPr>
              <a:t>Tanisha</a:t>
            </a:r>
            <a:r>
              <a:rPr b="0" i="0" lang="en-US" sz="2000" u="none" cap="none" strike="noStrike">
                <a:solidFill>
                  <a:srgbClr val="000000"/>
                </a:solidFill>
                <a:latin typeface="Times New Roman"/>
                <a:ea typeface="Times New Roman"/>
                <a:cs typeface="Times New Roman"/>
                <a:sym typeface="Times New Roman"/>
              </a:rPr>
              <a:t>, </a:t>
            </a:r>
            <a:r>
              <a:rPr lang="en-US" sz="2000">
                <a:latin typeface="Times New Roman"/>
                <a:ea typeface="Times New Roman"/>
                <a:cs typeface="Times New Roman"/>
                <a:sym typeface="Times New Roman"/>
              </a:rPr>
              <a:t>Keshav Garg, Bhavik Gaba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221099</a:t>
            </a:r>
            <a:r>
              <a:rPr lang="en-US" sz="2000">
                <a:latin typeface="Times New Roman"/>
                <a:ea typeface="Times New Roman"/>
                <a:cs typeface="Times New Roman"/>
                <a:sym typeface="Times New Roman"/>
              </a:rPr>
              <a:t>1136</a:t>
            </a:r>
            <a:r>
              <a:rPr b="0" i="0" lang="en-US" sz="2000" u="none" cap="none" strike="noStrike">
                <a:solidFill>
                  <a:srgbClr val="000000"/>
                </a:solidFill>
                <a:latin typeface="Times New Roman"/>
                <a:ea typeface="Times New Roman"/>
                <a:cs typeface="Times New Roman"/>
                <a:sym typeface="Times New Roman"/>
              </a:rPr>
              <a:t>, 221099</a:t>
            </a:r>
            <a:r>
              <a:rPr lang="en-US" sz="2000">
                <a:latin typeface="Times New Roman"/>
                <a:ea typeface="Times New Roman"/>
                <a:cs typeface="Times New Roman"/>
                <a:sym typeface="Times New Roman"/>
              </a:rPr>
              <a:t>0891</a:t>
            </a:r>
            <a:r>
              <a:rPr b="0" i="0" lang="en-US" sz="2000" u="none" cap="none" strike="noStrike">
                <a:solidFill>
                  <a:srgbClr val="000000"/>
                </a:solidFill>
                <a:latin typeface="Times New Roman"/>
                <a:ea typeface="Times New Roman"/>
                <a:cs typeface="Times New Roman"/>
                <a:sym typeface="Times New Roman"/>
              </a:rPr>
              <a:t>, 2210991</a:t>
            </a:r>
            <a:r>
              <a:rPr lang="en-US" sz="2000">
                <a:latin typeface="Times New Roman"/>
                <a:ea typeface="Times New Roman"/>
                <a:cs typeface="Times New Roman"/>
                <a:sym typeface="Times New Roman"/>
              </a:rPr>
              <a:t>782, 2210991438</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Supervised By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Dr. Rajat Takkar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40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nvSpPr>
        <p:spPr>
          <a:xfrm>
            <a:off x="457200" y="0"/>
            <a:ext cx="6019560" cy="8377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Introduction</a:t>
            </a:r>
            <a:endParaRPr b="0" i="0" sz="3000" u="none" cap="none" strike="noStrike">
              <a:solidFill>
                <a:srgbClr val="000000"/>
              </a:solidFill>
              <a:latin typeface="Times New Roman"/>
              <a:ea typeface="Times New Roman"/>
              <a:cs typeface="Times New Roman"/>
              <a:sym typeface="Times New Roman"/>
            </a:endParaRPr>
          </a:p>
        </p:txBody>
      </p:sp>
      <p:sp>
        <p:nvSpPr>
          <p:cNvPr id="90" name="Google Shape;90;p15"/>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15"/>
          <p:cNvSpPr txBox="1"/>
          <p:nvPr/>
        </p:nvSpPr>
        <p:spPr>
          <a:xfrm>
            <a:off x="152646" y="1009704"/>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200">
                <a:solidFill>
                  <a:schemeClr val="dk1"/>
                </a:solidFill>
              </a:rPr>
              <a:t>Overview:</a:t>
            </a:r>
            <a:endParaRPr b="1"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In today’s digital environment, multiplayer gaming and interactive events are becoming increasingly popular in organizations and educational institutions. However, most activities are still limited to repetitive quiz-based games, which gradually reduce user engagement and excitement.</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Additionally, existing gaming platforms often focus on a single game or fail to handle real-time interaction efficiently. Issues such as lag, delayed updates, lack of proper host controls, and poor synchronization affect the overall experience and make gameplay less enjoyable.</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To address these challenges, we developed </a:t>
            </a:r>
            <a:r>
              <a:rPr b="1" lang="en-US" sz="1800">
                <a:solidFill>
                  <a:schemeClr val="dk1"/>
                </a:solidFill>
              </a:rPr>
              <a:t>GameVerse</a:t>
            </a:r>
            <a:r>
              <a:rPr lang="en-US" sz="1800">
                <a:solidFill>
                  <a:schemeClr val="dk1"/>
                </a:solidFill>
              </a:rPr>
              <a:t>, a centralized real-time gaming platform that brings multiple games under one system. It allows users to play different types of games in both online and offline modes while ensuring smooth performance, fairness, and proper coordination.</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The platform is designed to improve engagement, provide better control to hosts, and create a more interactive and structured gaming experience for users.</a:t>
            </a:r>
            <a:endParaRPr sz="1800">
              <a:solidFill>
                <a:schemeClr val="dk1"/>
              </a:solidFill>
            </a:endParaRPr>
          </a:p>
          <a:p>
            <a:pPr indent="0" lvl="0" marL="0" marR="0" rtl="0" algn="l">
              <a:lnSpc>
                <a:spcPct val="100000"/>
              </a:lnSpc>
              <a:spcBef>
                <a:spcPts val="1200"/>
              </a:spcBef>
              <a:spcAft>
                <a:spcPts val="0"/>
              </a:spcAft>
              <a:buClr>
                <a:srgbClr val="000000"/>
              </a:buClr>
              <a:buSzPts val="1900"/>
              <a:buFont typeface="Arial"/>
              <a:buNone/>
            </a:pPr>
            <a:r>
              <a:t/>
            </a:r>
            <a:endParaRPr b="1" sz="2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txBox="1"/>
          <p:nvPr/>
        </p:nvSpPr>
        <p:spPr>
          <a:xfrm>
            <a:off x="80150" y="52400"/>
            <a:ext cx="4654200" cy="7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Technology Used</a:t>
            </a:r>
            <a:endParaRPr b="0" i="0" sz="3200" u="none" cap="none" strike="noStrike">
              <a:solidFill>
                <a:schemeClr val="dk1"/>
              </a:solidFill>
              <a:latin typeface="Times New Roman"/>
              <a:ea typeface="Times New Roman"/>
              <a:cs typeface="Times New Roman"/>
              <a:sym typeface="Times New Roman"/>
            </a:endParaRPr>
          </a:p>
        </p:txBody>
      </p:sp>
      <p:sp>
        <p:nvSpPr>
          <p:cNvPr id="98" name="Google Shape;98;p16"/>
          <p:cNvSpPr txBox="1"/>
          <p:nvPr/>
        </p:nvSpPr>
        <p:spPr>
          <a:xfrm>
            <a:off x="0" y="900025"/>
            <a:ext cx="8849100" cy="5394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Backend Framework: </a:t>
            </a:r>
            <a:r>
              <a:rPr b="1" lang="en-US" sz="1800">
                <a:solidFill>
                  <a:schemeClr val="dk1"/>
                </a:solidFill>
              </a:rPr>
              <a:t>ASP.NET Core</a:t>
            </a:r>
            <a:r>
              <a:rPr lang="en-US" sz="1800">
                <a:solidFill>
                  <a:schemeClr val="dk1"/>
                </a:solidFill>
              </a:rPr>
              <a:t> is used to handle server-side logic, manage game flow, process bids, and ensure secure and efficient API communication with high performance.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Frontend Framework: </a:t>
            </a:r>
            <a:r>
              <a:rPr b="1" lang="en-US" sz="1800">
                <a:solidFill>
                  <a:schemeClr val="dk1"/>
                </a:solidFill>
              </a:rPr>
              <a:t>Angular</a:t>
            </a:r>
            <a:r>
              <a:rPr lang="en-US" sz="1800">
                <a:solidFill>
                  <a:schemeClr val="dk1"/>
                </a:solidFill>
              </a:rPr>
              <a:t> is used to build a dynamic and interactive user interface using component-based architecture, routing, and structured design.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Database: </a:t>
            </a:r>
            <a:r>
              <a:rPr b="1" lang="en-US" sz="1800">
                <a:solidFill>
                  <a:schemeClr val="dk1"/>
                </a:solidFill>
              </a:rPr>
              <a:t>SQL database with Entity Framework</a:t>
            </a:r>
            <a:r>
              <a:rPr lang="en-US" sz="1800">
                <a:solidFill>
                  <a:schemeClr val="dk1"/>
                </a:solidFill>
              </a:rPr>
              <a:t> is used to store user details, team data, bids, chat messages, and game states while maintaining consistency and reliability.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Real-Time Communication: </a:t>
            </a:r>
            <a:r>
              <a:rPr b="1" lang="en-US" sz="1800">
                <a:solidFill>
                  <a:schemeClr val="dk1"/>
                </a:solidFill>
              </a:rPr>
              <a:t>SignalR</a:t>
            </a:r>
            <a:r>
              <a:rPr lang="en-US" sz="1800">
                <a:solidFill>
                  <a:schemeClr val="dk1"/>
                </a:solidFill>
              </a:rPr>
              <a:t> is used for real-time communication, enabling instant updates for bidding, chat, and game events without page refresh.</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Architecture: A </a:t>
            </a:r>
            <a:r>
              <a:rPr b="1" lang="en-US" sz="1800">
                <a:solidFill>
                  <a:schemeClr val="dk1"/>
                </a:solidFill>
              </a:rPr>
              <a:t>Client-Server architecture</a:t>
            </a:r>
            <a:r>
              <a:rPr lang="en-US" sz="1800">
                <a:solidFill>
                  <a:schemeClr val="dk1"/>
                </a:solidFill>
              </a:rPr>
              <a:t> is followed, ensuring smooth communication between frontend and backend along with scalability.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Deployment: The application is deployed using </a:t>
            </a:r>
            <a:r>
              <a:rPr b="1" lang="en-US" sz="1800">
                <a:solidFill>
                  <a:schemeClr val="dk1"/>
                </a:solidFill>
              </a:rPr>
              <a:t>Docker and free hosting solutions</a:t>
            </a:r>
            <a:r>
              <a:rPr lang="en-US" sz="1800">
                <a:solidFill>
                  <a:schemeClr val="dk1"/>
                </a:solidFill>
              </a:rPr>
              <a:t>, making the system cost-effective and easy to scale.</a:t>
            </a:r>
            <a:endParaRPr sz="1800">
              <a:solidFill>
                <a:schemeClr val="dk1"/>
              </a:solidFill>
            </a:endParaRPr>
          </a:p>
          <a:p>
            <a:pPr indent="0" lvl="0" marL="0" marR="0" rtl="0" algn="l">
              <a:lnSpc>
                <a:spcPct val="100000"/>
              </a:lnSpc>
              <a:spcBef>
                <a:spcPts val="1200"/>
              </a:spcBef>
              <a:spcAft>
                <a:spcPts val="0"/>
              </a:spcAft>
              <a:buClr>
                <a:srgbClr val="000000"/>
              </a:buClr>
              <a:buSzPts val="2200"/>
              <a:buFont typeface="Arial"/>
              <a:buNone/>
            </a:pPr>
            <a:r>
              <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nvSpPr>
        <p:spPr>
          <a:xfrm>
            <a:off x="64725" y="191100"/>
            <a:ext cx="6395700" cy="64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Problem Statement And Objective</a:t>
            </a:r>
            <a:endParaRPr b="0" i="0" sz="3200" u="none" cap="none" strike="noStrike">
              <a:solidFill>
                <a:schemeClr val="dk1"/>
              </a:solidFill>
              <a:latin typeface="Times New Roman"/>
              <a:ea typeface="Times New Roman"/>
              <a:cs typeface="Times New Roman"/>
              <a:sym typeface="Times New Roman"/>
            </a:endParaRPr>
          </a:p>
        </p:txBody>
      </p:sp>
      <p:sp>
        <p:nvSpPr>
          <p:cNvPr id="105" name="Google Shape;105;p17"/>
          <p:cNvSpPr txBox="1"/>
          <p:nvPr/>
        </p:nvSpPr>
        <p:spPr>
          <a:xfrm>
            <a:off x="64725" y="838500"/>
            <a:ext cx="8741400" cy="62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2200">
                <a:solidFill>
                  <a:schemeClr val="dk1"/>
                </a:solidFill>
              </a:rPr>
              <a:t>Problem Statement:</a:t>
            </a:r>
            <a:endParaRPr b="1"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Existing gaming systems lack variety, real-time performance, and proper management tools. Most platforms either suffer from lag or support only one type of game.</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In organizational events, repeated use of quiz games reduces engagement. Additionally, there is no structured, scalable, and cost-free solution for hosting multiplayer games with fairness and synchronization.</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200">
                <a:solidFill>
                  <a:schemeClr val="dk1"/>
                </a:solidFill>
              </a:rPr>
              <a:t>Objectives:</a:t>
            </a:r>
            <a:endParaRPr b="1" sz="22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Build a centralized platform for multiple games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Enable real-time multiplayer interaction using SignalR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Provide host-controlled gameplay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Ensure fairness through validation and synchronization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Create a scalable and cost-efficient solution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Protect originality of game logic</a:t>
            </a:r>
            <a:endParaRPr sz="1800">
              <a:solidFill>
                <a:schemeClr val="dk1"/>
              </a:solidFill>
            </a:endParaRPr>
          </a:p>
          <a:p>
            <a:pPr indent="0" lvl="0" marL="0" marR="0" rtl="0" algn="l">
              <a:lnSpc>
                <a:spcPct val="100000"/>
              </a:lnSpc>
              <a:spcBef>
                <a:spcPts val="1200"/>
              </a:spcBef>
              <a:spcAft>
                <a:spcPts val="0"/>
              </a:spcAft>
              <a:buClr>
                <a:srgbClr val="000000"/>
              </a:buClr>
              <a:buSzPts val="1900"/>
              <a:buFont typeface="Arial"/>
              <a:buNone/>
            </a:pPr>
            <a:r>
              <a:t/>
            </a:r>
            <a:endParaRPr b="1" sz="2200" u="sng">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Implementation</a:t>
            </a:r>
            <a:endParaRPr b="0" i="0" sz="3200" u="none" cap="none" strike="noStrike">
              <a:solidFill>
                <a:schemeClr val="dk1"/>
              </a:solidFill>
              <a:latin typeface="Times New Roman"/>
              <a:ea typeface="Times New Roman"/>
              <a:cs typeface="Times New Roman"/>
              <a:sym typeface="Times New Roman"/>
            </a:endParaRPr>
          </a:p>
        </p:txBody>
      </p:sp>
      <p:sp>
        <p:nvSpPr>
          <p:cNvPr id="112" name="Google Shape;112;p18"/>
          <p:cNvSpPr txBox="1"/>
          <p:nvPr/>
        </p:nvSpPr>
        <p:spPr>
          <a:xfrm>
            <a:off x="49325" y="961650"/>
            <a:ext cx="8707200" cy="600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Gathered requirements based on real-world gaming events and designed a </a:t>
            </a:r>
            <a:r>
              <a:rPr b="1" lang="en-US" sz="1800">
                <a:solidFill>
                  <a:schemeClr val="dk1"/>
                </a:solidFill>
              </a:rPr>
              <a:t>room-based architecture</a:t>
            </a:r>
            <a:r>
              <a:rPr lang="en-US" sz="1800">
                <a:solidFill>
                  <a:schemeClr val="dk1"/>
                </a:solidFill>
              </a:rPr>
              <a:t> for multiplayer interaction</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Developed frontend using </a:t>
            </a:r>
            <a:r>
              <a:rPr b="1" lang="en-US" sz="1800">
                <a:solidFill>
                  <a:schemeClr val="dk1"/>
                </a:solidFill>
              </a:rPr>
              <a:t>Angular</a:t>
            </a:r>
            <a:r>
              <a:rPr lang="en-US" sz="1800">
                <a:solidFill>
                  <a:schemeClr val="dk1"/>
                </a:solidFill>
              </a:rPr>
              <a:t>, creating components for dashboard, room creation/joining, and game interfaces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Built backend using </a:t>
            </a:r>
            <a:r>
              <a:rPr b="1" lang="en-US" sz="1800">
                <a:solidFill>
                  <a:schemeClr val="dk1"/>
                </a:solidFill>
              </a:rPr>
              <a:t>ASP.NET Core</a:t>
            </a:r>
            <a:r>
              <a:rPr lang="en-US" sz="1800">
                <a:solidFill>
                  <a:schemeClr val="dk1"/>
                </a:solidFill>
              </a:rPr>
              <a:t> to manage game logic, players, teams, bids, and score tracking</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Integrated </a:t>
            </a:r>
            <a:r>
              <a:rPr b="1" lang="en-US" sz="1800">
                <a:solidFill>
                  <a:schemeClr val="dk1"/>
                </a:solidFill>
              </a:rPr>
              <a:t>SignalR</a:t>
            </a:r>
            <a:r>
              <a:rPr lang="en-US" sz="1800">
                <a:solidFill>
                  <a:schemeClr val="dk1"/>
                </a:solidFill>
              </a:rPr>
              <a:t> for real-time communication, enabling instant bidding, chat, and game updates across all users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Implemented separate modules for games including </a:t>
            </a:r>
            <a:r>
              <a:rPr b="1" lang="en-US" sz="1800">
                <a:solidFill>
                  <a:schemeClr val="dk1"/>
                </a:solidFill>
              </a:rPr>
              <a:t>Sarkaar, Imposter, and Tambola</a:t>
            </a:r>
            <a:r>
              <a:rPr lang="en-US" sz="1800">
                <a:solidFill>
                  <a:schemeClr val="dk1"/>
                </a:solidFill>
              </a:rPr>
              <a:t>, each with its own logic</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Added validation mechanisms to prevent duplicate actions, ensure fairness, and maintain synchronization</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Tested the system for performance, accuracy, and smooth real-time interaction with multiple users</a:t>
            </a:r>
            <a:endParaRPr sz="1800">
              <a:solidFill>
                <a:schemeClr val="dk1"/>
              </a:solidFill>
            </a:endParaRPr>
          </a:p>
          <a:p>
            <a:pPr indent="0" lvl="0" marL="0" marR="0" rtl="0" algn="l">
              <a:lnSpc>
                <a:spcPct val="100000"/>
              </a:lnSpc>
              <a:spcBef>
                <a:spcPts val="1200"/>
              </a:spcBef>
              <a:spcAft>
                <a:spcPts val="0"/>
              </a:spcAft>
              <a:buClr>
                <a:srgbClr val="000000"/>
              </a:buClr>
              <a:buSzPts val="1900"/>
              <a:buFont typeface="Arial"/>
              <a:buNone/>
            </a:pPr>
            <a:r>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19" name="Google Shape;119;p19"/>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LOGIN / SIGNUP</a:t>
            </a:r>
            <a:endParaRPr b="0" i="0" sz="1400" u="none" cap="none" strike="noStrike">
              <a:solidFill>
                <a:srgbClr val="000000"/>
              </a:solidFill>
              <a:latin typeface="Arial"/>
              <a:ea typeface="Arial"/>
              <a:cs typeface="Arial"/>
              <a:sym typeface="Arial"/>
            </a:endParaRPr>
          </a:p>
        </p:txBody>
      </p:sp>
      <p:pic>
        <p:nvPicPr>
          <p:cNvPr id="120" name="Google Shape;120;p19"/>
          <p:cNvPicPr preferRelativeResize="0"/>
          <p:nvPr/>
        </p:nvPicPr>
        <p:blipFill>
          <a:blip r:embed="rId3">
            <a:alphaModFix/>
          </a:blip>
          <a:stretch>
            <a:fillRect/>
          </a:stretch>
        </p:blipFill>
        <p:spPr>
          <a:xfrm>
            <a:off x="395450" y="1681625"/>
            <a:ext cx="4070803" cy="4133574"/>
          </a:xfrm>
          <a:prstGeom prst="rect">
            <a:avLst/>
          </a:prstGeom>
          <a:noFill/>
          <a:ln>
            <a:noFill/>
          </a:ln>
        </p:spPr>
      </p:pic>
      <p:pic>
        <p:nvPicPr>
          <p:cNvPr id="121" name="Google Shape;121;p19"/>
          <p:cNvPicPr preferRelativeResize="0"/>
          <p:nvPr/>
        </p:nvPicPr>
        <p:blipFill>
          <a:blip r:embed="rId4">
            <a:alphaModFix/>
          </a:blip>
          <a:stretch>
            <a:fillRect/>
          </a:stretch>
        </p:blipFill>
        <p:spPr>
          <a:xfrm>
            <a:off x="4677450" y="1681625"/>
            <a:ext cx="3951754" cy="4133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28" name="Google Shape;128;p20"/>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Home Page</a:t>
            </a:r>
            <a:endParaRPr b="0" i="0" sz="1400" u="none" cap="none" strike="noStrike">
              <a:solidFill>
                <a:srgbClr val="000000"/>
              </a:solidFill>
              <a:latin typeface="Arial"/>
              <a:ea typeface="Arial"/>
              <a:cs typeface="Arial"/>
              <a:sym typeface="Arial"/>
            </a:endParaRPr>
          </a:p>
        </p:txBody>
      </p:sp>
      <p:pic>
        <p:nvPicPr>
          <p:cNvPr id="129" name="Google Shape;129;p20"/>
          <p:cNvPicPr preferRelativeResize="0"/>
          <p:nvPr/>
        </p:nvPicPr>
        <p:blipFill>
          <a:blip r:embed="rId3">
            <a:alphaModFix/>
          </a:blip>
          <a:stretch>
            <a:fillRect/>
          </a:stretch>
        </p:blipFill>
        <p:spPr>
          <a:xfrm>
            <a:off x="152400" y="1635425"/>
            <a:ext cx="8839201" cy="40868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36" name="Google Shape;136;p21"/>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US" sz="2200">
                <a:solidFill>
                  <a:schemeClr val="dk1"/>
                </a:solidFill>
                <a:latin typeface="Times New Roman"/>
                <a:ea typeface="Times New Roman"/>
                <a:cs typeface="Times New Roman"/>
                <a:sym typeface="Times New Roman"/>
              </a:rPr>
              <a:t>Sarkaar Game</a:t>
            </a:r>
            <a:endParaRPr b="0" i="0" sz="1400" u="none" cap="none" strike="noStrike">
              <a:solidFill>
                <a:srgbClr val="000000"/>
              </a:solidFill>
              <a:latin typeface="Arial"/>
              <a:ea typeface="Arial"/>
              <a:cs typeface="Arial"/>
              <a:sym typeface="Arial"/>
            </a:endParaRPr>
          </a:p>
        </p:txBody>
      </p:sp>
      <p:pic>
        <p:nvPicPr>
          <p:cNvPr id="137" name="Google Shape;137;p21"/>
          <p:cNvPicPr preferRelativeResize="0"/>
          <p:nvPr/>
        </p:nvPicPr>
        <p:blipFill>
          <a:blip r:embed="rId3">
            <a:alphaModFix/>
          </a:blip>
          <a:stretch>
            <a:fillRect/>
          </a:stretch>
        </p:blipFill>
        <p:spPr>
          <a:xfrm>
            <a:off x="152400" y="1635425"/>
            <a:ext cx="8839201" cy="41513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44" name="Google Shape;144;p22"/>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US" sz="2200">
                <a:solidFill>
                  <a:schemeClr val="dk1"/>
                </a:solidFill>
                <a:latin typeface="Times New Roman"/>
                <a:ea typeface="Times New Roman"/>
                <a:cs typeface="Times New Roman"/>
                <a:sym typeface="Times New Roman"/>
              </a:rPr>
              <a:t>Game Chat</a:t>
            </a:r>
            <a:endParaRPr b="0" i="0" sz="1400" u="none" cap="none" strike="noStrike">
              <a:solidFill>
                <a:srgbClr val="000000"/>
              </a:solidFill>
              <a:latin typeface="Arial"/>
              <a:ea typeface="Arial"/>
              <a:cs typeface="Arial"/>
              <a:sym typeface="Arial"/>
            </a:endParaRPr>
          </a:p>
        </p:txBody>
      </p:sp>
      <p:pic>
        <p:nvPicPr>
          <p:cNvPr id="145" name="Google Shape;145;p22"/>
          <p:cNvPicPr preferRelativeResize="0"/>
          <p:nvPr/>
        </p:nvPicPr>
        <p:blipFill>
          <a:blip r:embed="rId3">
            <a:alphaModFix/>
          </a:blip>
          <a:stretch>
            <a:fillRect/>
          </a:stretch>
        </p:blipFill>
        <p:spPr>
          <a:xfrm>
            <a:off x="3277650" y="1683025"/>
            <a:ext cx="2851800" cy="5022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52" name="Google Shape;152;p23"/>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US" sz="2200">
                <a:solidFill>
                  <a:schemeClr val="dk1"/>
                </a:solidFill>
                <a:latin typeface="Times New Roman"/>
                <a:ea typeface="Times New Roman"/>
                <a:cs typeface="Times New Roman"/>
                <a:sym typeface="Times New Roman"/>
              </a:rPr>
              <a:t>Imposter Game</a:t>
            </a:r>
            <a:endParaRPr b="0" i="0" sz="1400" u="none" cap="none" strike="noStrike">
              <a:solidFill>
                <a:srgbClr val="000000"/>
              </a:solidFill>
              <a:latin typeface="Arial"/>
              <a:ea typeface="Arial"/>
              <a:cs typeface="Arial"/>
              <a:sym typeface="Arial"/>
            </a:endParaRPr>
          </a:p>
        </p:txBody>
      </p:sp>
      <p:pic>
        <p:nvPicPr>
          <p:cNvPr id="153" name="Google Shape;153;p23"/>
          <p:cNvPicPr preferRelativeResize="0"/>
          <p:nvPr/>
        </p:nvPicPr>
        <p:blipFill>
          <a:blip r:embed="rId3">
            <a:alphaModFix/>
          </a:blip>
          <a:stretch>
            <a:fillRect/>
          </a:stretch>
        </p:blipFill>
        <p:spPr>
          <a:xfrm>
            <a:off x="152400" y="1635425"/>
            <a:ext cx="8839196" cy="38480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nvSpPr>
        <p:spPr>
          <a:xfrm>
            <a:off x="49325" y="83225"/>
            <a:ext cx="6441900" cy="67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UI Design</a:t>
            </a:r>
            <a:endParaRPr b="0" i="0" sz="3200" u="none" cap="none" strike="noStrike">
              <a:solidFill>
                <a:schemeClr val="dk1"/>
              </a:solidFill>
              <a:latin typeface="Times New Roman"/>
              <a:ea typeface="Times New Roman"/>
              <a:cs typeface="Times New Roman"/>
              <a:sym typeface="Times New Roman"/>
            </a:endParaRPr>
          </a:p>
        </p:txBody>
      </p:sp>
      <p:sp>
        <p:nvSpPr>
          <p:cNvPr id="160" name="Google Shape;160;p24"/>
          <p:cNvSpPr txBox="1"/>
          <p:nvPr/>
        </p:nvSpPr>
        <p:spPr>
          <a:xfrm>
            <a:off x="125250" y="95982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n-US" sz="2200">
                <a:solidFill>
                  <a:schemeClr val="dk1"/>
                </a:solidFill>
                <a:latin typeface="Times New Roman"/>
                <a:ea typeface="Times New Roman"/>
                <a:cs typeface="Times New Roman"/>
                <a:sym typeface="Times New Roman"/>
              </a:rPr>
              <a:t>Tambola Game</a:t>
            </a:r>
            <a:endParaRPr b="0" i="0" sz="1400" u="none" cap="none" strike="noStrike">
              <a:solidFill>
                <a:srgbClr val="000000"/>
              </a:solidFill>
              <a:latin typeface="Arial"/>
              <a:ea typeface="Arial"/>
              <a:cs typeface="Arial"/>
              <a:sym typeface="Arial"/>
            </a:endParaRPr>
          </a:p>
        </p:txBody>
      </p:sp>
      <p:pic>
        <p:nvPicPr>
          <p:cNvPr id="161" name="Google Shape;161;p24"/>
          <p:cNvPicPr preferRelativeResize="0"/>
          <p:nvPr/>
        </p:nvPicPr>
        <p:blipFill>
          <a:blip r:embed="rId3">
            <a:alphaModFix/>
          </a:blip>
          <a:stretch>
            <a:fillRect/>
          </a:stretch>
        </p:blipFill>
        <p:spPr>
          <a:xfrm>
            <a:off x="152400" y="1635425"/>
            <a:ext cx="8839201" cy="41565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nvSpPr>
        <p:spPr>
          <a:xfrm>
            <a:off x="110950" y="206500"/>
            <a:ext cx="5625000" cy="52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Result</a:t>
            </a:r>
            <a:endParaRPr b="0" i="0" sz="3200" u="none" cap="none" strike="noStrike">
              <a:solidFill>
                <a:schemeClr val="dk1"/>
              </a:solidFill>
              <a:latin typeface="Times New Roman"/>
              <a:ea typeface="Times New Roman"/>
              <a:cs typeface="Times New Roman"/>
              <a:sym typeface="Times New Roman"/>
            </a:endParaRPr>
          </a:p>
        </p:txBody>
      </p:sp>
      <p:sp>
        <p:nvSpPr>
          <p:cNvPr id="168" name="Google Shape;168;p25"/>
          <p:cNvSpPr txBox="1"/>
          <p:nvPr/>
        </p:nvSpPr>
        <p:spPr>
          <a:xfrm>
            <a:off x="0" y="896800"/>
            <a:ext cx="8833800" cy="53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Developed a </a:t>
            </a:r>
            <a:r>
              <a:rPr b="1" lang="en-US" sz="1800">
                <a:solidFill>
                  <a:schemeClr val="dk1"/>
                </a:solidFill>
              </a:rPr>
              <a:t>centralized gaming platform</a:t>
            </a:r>
            <a:r>
              <a:rPr lang="en-US" sz="1800">
                <a:solidFill>
                  <a:schemeClr val="dk1"/>
                </a:solidFill>
              </a:rPr>
              <a:t> where multiple games can be played in one system</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Achieved </a:t>
            </a:r>
            <a:r>
              <a:rPr b="1" lang="en-US" sz="1800">
                <a:solidFill>
                  <a:schemeClr val="dk1"/>
                </a:solidFill>
              </a:rPr>
              <a:t>real-time interaction</a:t>
            </a:r>
            <a:r>
              <a:rPr lang="en-US" sz="1800">
                <a:solidFill>
                  <a:schemeClr val="dk1"/>
                </a:solidFill>
              </a:rPr>
              <a:t> using SignalR, ensuring instant updates for bids, chat, and game events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Improved user engagement by replacing repetitive quiz-based activities with interactive games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Ensured </a:t>
            </a:r>
            <a:r>
              <a:rPr b="1" lang="en-US" sz="1800">
                <a:solidFill>
                  <a:schemeClr val="dk1"/>
                </a:solidFill>
              </a:rPr>
              <a:t>fair gameplay</a:t>
            </a:r>
            <a:r>
              <a:rPr lang="en-US" sz="1800">
                <a:solidFill>
                  <a:schemeClr val="dk1"/>
                </a:solidFill>
              </a:rPr>
              <a:t> through validation mechanisms and controlled bidding system</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Provided smooth and synchronized gameplay experience for multiple users simultaneously</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Built a </a:t>
            </a:r>
            <a:r>
              <a:rPr b="1" lang="en-US" sz="1800">
                <a:solidFill>
                  <a:schemeClr val="dk1"/>
                </a:solidFill>
              </a:rPr>
              <a:t>cost-free solution</a:t>
            </a:r>
            <a:r>
              <a:rPr lang="en-US" sz="1800">
                <a:solidFill>
                  <a:schemeClr val="dk1"/>
                </a:solidFill>
              </a:rPr>
              <a:t> with no additional expense for hosting or database</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 Created a scalable system that can support increasing number of users and games</a:t>
            </a:r>
            <a:endParaRPr sz="1800">
              <a:solidFill>
                <a:schemeClr val="dk1"/>
              </a:solidFill>
            </a:endParaRPr>
          </a:p>
          <a:p>
            <a:pPr indent="0" lvl="0" marL="0" marR="0" rtl="0" algn="l">
              <a:lnSpc>
                <a:spcPct val="100000"/>
              </a:lnSpc>
              <a:spcBef>
                <a:spcPts val="1200"/>
              </a:spcBef>
              <a:spcAft>
                <a:spcPts val="0"/>
              </a:spcAft>
              <a:buClr>
                <a:srgbClr val="000000"/>
              </a:buClr>
              <a:buSzPts val="2200"/>
              <a:buFont typeface="Arial"/>
              <a:buNone/>
            </a:pPr>
            <a:r>
              <a:t/>
            </a:r>
            <a:endParaRPr b="1"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nvSpPr>
        <p:spPr>
          <a:xfrm>
            <a:off x="64725" y="83225"/>
            <a:ext cx="5625000" cy="70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Conclusion</a:t>
            </a:r>
            <a:endParaRPr b="0" i="0" sz="3200" u="none" cap="none" strike="noStrike">
              <a:solidFill>
                <a:schemeClr val="dk1"/>
              </a:solidFill>
              <a:latin typeface="Times New Roman"/>
              <a:ea typeface="Times New Roman"/>
              <a:cs typeface="Times New Roman"/>
              <a:sym typeface="Times New Roman"/>
            </a:endParaRPr>
          </a:p>
        </p:txBody>
      </p:sp>
      <p:sp>
        <p:nvSpPr>
          <p:cNvPr id="175" name="Google Shape;175;p26"/>
          <p:cNvSpPr txBox="1"/>
          <p:nvPr/>
        </p:nvSpPr>
        <p:spPr>
          <a:xfrm>
            <a:off x="0" y="1089300"/>
            <a:ext cx="7801200" cy="5394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GameVerse project successfully provides a centralized and interactive platform for hosting multiple real-time multiplayer games within a single system. It effectively addresses the limitations of traditional gaming methods by replacing repetitive activities with engaging and diverse gameplay experiences.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By integrating modern technologies such as Angular, ASP.NET Core, and SignalR, the platform ensures smooth performance, real-time communication, and proper synchronization among all players. The room-based architecture along with host controls helps maintain fairness, structured gameplay, and better management of game sessions.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Overall, the system improves user engagement, enhances collaboration among participants, and offers a scalable and cost-effective solution for conducting gaming events in organizations and educational environments. It also demonstrates how real-time systems can be efficiently designed and implemented for practical use.</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9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nvSpPr>
        <p:spPr>
          <a:xfrm>
            <a:off x="95550" y="175700"/>
            <a:ext cx="5070300" cy="50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Reference</a:t>
            </a:r>
            <a:endParaRPr b="0" i="0" sz="3200" u="none" cap="none" strike="noStrike">
              <a:solidFill>
                <a:schemeClr val="dk1"/>
              </a:solidFill>
              <a:latin typeface="Times New Roman"/>
              <a:ea typeface="Times New Roman"/>
              <a:cs typeface="Times New Roman"/>
              <a:sym typeface="Times New Roman"/>
            </a:endParaRPr>
          </a:p>
        </p:txBody>
      </p:sp>
      <p:sp>
        <p:nvSpPr>
          <p:cNvPr id="182" name="Google Shape;182;p27"/>
          <p:cNvSpPr txBox="1"/>
          <p:nvPr/>
        </p:nvSpPr>
        <p:spPr>
          <a:xfrm>
            <a:off x="0" y="1125025"/>
            <a:ext cx="7862700" cy="3329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Angular Official Documentation – Frontend development and component-based architecture</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ASP.NET Core Documentation – Backend development and API implementation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SignalR Documentation – Real-time communication and WebSocket integration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Entity Framework Documentation – Database handling and data management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Docker Documentation – Deployment and containerization</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Research articles and online resources on real-time multiplayer systems and game architecture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188" name="Google Shape;188;p28"/>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